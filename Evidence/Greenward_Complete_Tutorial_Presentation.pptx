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77240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GREENWARD</a:t>
            </a:r>
            <a:br/>
            <a:r>
              <a:t>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E0EFE2"/>
                </a:solidFill>
                <a:latin typeface="Aptos"/>
              </a:rPr>
              <a:t>Offline illustrated guide for Sana Vey’s garden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Tutorial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4892040" cy="1051560"/>
          </a:xfrm>
          <a:prstGeom prst="roundRect">
            <a:avLst/>
          </a:prstGeom>
          <a:solidFill>
            <a:srgbClr val="395B45"/>
          </a:solidFill>
          <a:ln w="12700">
            <a:solidFill>
              <a:srgbClr val="39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4224528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Kairova Tech Department → Greenward</a:t>
            </a:r>
            <a:br/>
            <a:r>
              <a:t>Route • Prototype • XAML/C# • Testing • Team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7DA"/>
                </a:solidFill>
                <a:latin typeface="Aptos"/>
              </a:rPr>
              <a:t>Windows WPF application • Designed to work when the network drops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CEDE9F-7BDA-9907-D442-0FA341ECF458}"/>
              </a:ext>
            </a:extLst>
          </p:cNvPr>
          <p:cNvSpPr/>
          <p:nvPr/>
        </p:nvSpPr>
        <p:spPr>
          <a:xfrm>
            <a:off x="6096000" y="530680"/>
            <a:ext cx="5766707" cy="579664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Project Mission &amp; Story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What the Greenward crew needs and what the application is designed to accomplish.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1664208"/>
            <a:ext cx="914400" cy="310896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714500"/>
            <a:ext cx="8046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94936"/>
                </a:solidFill>
                <a:latin typeface="Aptos"/>
              </a:rPr>
              <a:t>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4617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353D"/>
                </a:solidFill>
                <a:latin typeface="Aptos"/>
              </a:rPr>
              <a:t>Give Sana Vey’s garden crew a simple field guide that still works on an ordinary Windows computer when the network is unavailable.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4936"/>
                </a:solidFill>
                <a:latin typeface="Aptos"/>
              </a:rPr>
              <a:t>Story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67328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Beyond the protected pods, the forest has consumed roads and buildings.</a:t>
            </a:r>
          </a:p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The guide helps the reader identify the route and important locations.</a:t>
            </a:r>
          </a:p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This is a different team from Malik’s earlier unresolved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1732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82512" y="1664208"/>
            <a:ext cx="1051560" cy="310896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714500"/>
            <a:ext cx="94183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70A6"/>
                </a:solidFill>
                <a:latin typeface="Aptos"/>
              </a:rPr>
              <a:t>USER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48840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353D"/>
                </a:solidFill>
                <a:latin typeface="Aptos"/>
              </a:rPr>
              <a:t>As a reader, I want to move through Sana’s story and field route, so I can identify the garden area and understand the overgrown surroundings.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5204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1746E"/>
                </a:solidFill>
                <a:latin typeface="Aptos"/>
              </a:rPr>
              <a:t>Reader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858768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Start the guide.</a:t>
            </a:r>
          </a:p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Follow the Greenward route.</a:t>
            </a:r>
          </a:p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Read the Garden Area information.</a:t>
            </a:r>
          </a:p>
          <a:p>
            <a:pPr>
              <a:spcAft>
                <a:spcPts val="300"/>
              </a:spcAft>
              <a:defRPr sz="1300">
                <a:solidFill>
                  <a:srgbClr val="5C6360"/>
                </a:solidFill>
                <a:latin typeface="Aptos"/>
              </a:defRPr>
            </a:pPr>
            <a:r>
              <a:t>• Reach the Overgrown Area and identify the route.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Reader Route: Home → Map → Garden →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The page number is the application’s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2084831"/>
            <a:ext cx="777240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2135124"/>
            <a:ext cx="667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PAGE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5176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2353D"/>
                </a:solidFill>
                <a:latin typeface="Aptos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363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360"/>
                </a:solidFill>
                <a:latin typeface="Aptos"/>
              </a:rPr>
              <a:t>Welcome to Greenward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5420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39312" y="2084831"/>
            <a:ext cx="777240" cy="310896"/>
          </a:xfrm>
          <a:prstGeom prst="roundRect">
            <a:avLst/>
          </a:prstGeom>
          <a:solidFill>
            <a:srgbClr val="4170A6"/>
          </a:solidFill>
          <a:ln w="12700">
            <a:solidFill>
              <a:srgbClr val="41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94176" y="2135124"/>
            <a:ext cx="667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5176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2353D"/>
                </a:solidFill>
                <a:latin typeface="Aptos"/>
              </a:rP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363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360"/>
                </a:solidFill>
                <a:latin typeface="Aptos"/>
              </a:rPr>
              <a:t>Greenward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5420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874519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19672" y="2084831"/>
            <a:ext cx="777240" cy="310896"/>
          </a:xfrm>
          <a:prstGeom prst="roundRect">
            <a:avLst/>
          </a:prstGeom>
          <a:solidFill>
            <a:srgbClr val="31746E"/>
          </a:solidFill>
          <a:ln w="12700">
            <a:solidFill>
              <a:srgbClr val="31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4536" y="2135124"/>
            <a:ext cx="667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5176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2353D"/>
                </a:solidFill>
                <a:latin typeface="Aptos"/>
              </a:rPr>
              <a:t>GARDEN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363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360"/>
                </a:solidFill>
                <a:latin typeface="Aptos"/>
              </a:rPr>
              <a:t>Garden 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5420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74519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00032" y="2084831"/>
            <a:ext cx="777240" cy="310896"/>
          </a:xfrm>
          <a:prstGeom prst="roundRect">
            <a:avLst/>
          </a:prstGeom>
          <a:solidFill>
            <a:srgbClr val="CC7E37"/>
          </a:solidFill>
          <a:ln w="12700">
            <a:solidFill>
              <a:srgbClr val="CC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2135124"/>
            <a:ext cx="667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65176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2353D"/>
                </a:solidFill>
                <a:latin typeface="Aptos"/>
              </a:rPr>
              <a:t>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31363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360"/>
                </a:solidFill>
                <a:latin typeface="Aptos"/>
              </a:rPr>
              <a:t>Overgrown Area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343400"/>
            <a:ext cx="10378440" cy="914400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54456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4936"/>
                </a:solidFill>
                <a:latin typeface="Aptos"/>
              </a:rPr>
              <a:t>Navigation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489704"/>
            <a:ext cx="8183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353D"/>
                </a:solidFill>
                <a:latin typeface="Aptos"/>
              </a:rPr>
              <a:t>Start Guide sets page = 1.  Next increments.  Back decrements.  Home resets to 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440680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360"/>
                </a:solidFill>
                <a:latin typeface="Aptos"/>
              </a:rPr>
              <a:t>Boundary guards keep the reader between page 0 and page 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2353D"/>
                </a:solidFill>
                <a:latin typeface="Aptos"/>
              </a:rPr>
              <a:t>Prototype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90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170A6"/>
                </a:solidFill>
                <a:latin typeface="Aptos"/>
              </a:rPr>
              <a:t>1 • Welcome / Start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490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170A6"/>
                </a:solidFill>
                <a:latin typeface="Aptos"/>
              </a:rPr>
              <a:t>2 • </a:t>
            </a:r>
            <a:r>
              <a:rPr sz="1000" b="1" dirty="0" err="1">
                <a:solidFill>
                  <a:srgbClr val="4170A6"/>
                </a:solidFill>
                <a:latin typeface="Aptos"/>
              </a:rPr>
              <a:t>Greenward</a:t>
            </a:r>
            <a:r>
              <a:rPr sz="1000" b="1" dirty="0">
                <a:solidFill>
                  <a:srgbClr val="4170A6"/>
                </a:solidFill>
                <a:latin typeface="Aptos"/>
              </a:rPr>
              <a:t>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414" y="3897955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170A6"/>
                </a:solidFill>
                <a:latin typeface="Aptos"/>
              </a:rPr>
              <a:t>3 • Garden 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9476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86791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170A6"/>
                </a:solidFill>
                <a:latin typeface="Aptos"/>
              </a:rPr>
              <a:t>4 • Overgrown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BFE6F8-8C0F-2BC6-A9A3-757A31F182A9}"/>
              </a:ext>
            </a:extLst>
          </p:cNvPr>
          <p:cNvSpPr/>
          <p:nvPr/>
        </p:nvSpPr>
        <p:spPr>
          <a:xfrm>
            <a:off x="865414" y="1792224"/>
            <a:ext cx="4867873" cy="155513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05F256-41AA-6B4A-AAAD-DCBF4A67BE17}"/>
              </a:ext>
            </a:extLst>
          </p:cNvPr>
          <p:cNvSpPr/>
          <p:nvPr/>
        </p:nvSpPr>
        <p:spPr>
          <a:xfrm>
            <a:off x="6534694" y="1800389"/>
            <a:ext cx="4867874" cy="155513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3BBAF8-DF36-539A-FC4B-56450AE9ACD8}"/>
              </a:ext>
            </a:extLst>
          </p:cNvPr>
          <p:cNvSpPr/>
          <p:nvPr/>
        </p:nvSpPr>
        <p:spPr>
          <a:xfrm>
            <a:off x="865414" y="4154641"/>
            <a:ext cx="4867874" cy="155513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361281-5D37-8CAC-60FE-2CF9A246D824}"/>
              </a:ext>
            </a:extLst>
          </p:cNvPr>
          <p:cNvSpPr/>
          <p:nvPr/>
        </p:nvSpPr>
        <p:spPr>
          <a:xfrm>
            <a:off x="6534694" y="4169664"/>
            <a:ext cx="4867874" cy="1555133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2353D"/>
                </a:solidFill>
                <a:latin typeface="Aptos"/>
              </a:rPr>
              <a:t>Final UI </a:t>
            </a:r>
            <a:r>
              <a:rPr sz="2800" b="1" dirty="0">
                <a:solidFill>
                  <a:srgbClr val="22353D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61261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90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170A6"/>
                </a:solidFill>
                <a:latin typeface="Aptos"/>
              </a:rPr>
              <a:t>1 • Welcome / Start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6675" y="1426464"/>
            <a:ext cx="3561261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3553" y="1499290"/>
            <a:ext cx="308087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170A6"/>
                </a:solidFill>
                <a:latin typeface="Aptos"/>
              </a:rPr>
              <a:t>2 • </a:t>
            </a:r>
            <a:r>
              <a:rPr sz="1000" b="1" dirty="0" err="1">
                <a:solidFill>
                  <a:srgbClr val="4170A6"/>
                </a:solidFill>
                <a:latin typeface="Aptos"/>
              </a:rPr>
              <a:t>Greenward</a:t>
            </a:r>
            <a:r>
              <a:rPr sz="1000" b="1" dirty="0">
                <a:solidFill>
                  <a:srgbClr val="4170A6"/>
                </a:solidFill>
                <a:latin typeface="Aptos"/>
              </a:rPr>
              <a:t>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BFE6F8-8C0F-2BC6-A9A3-757A31F182A9}"/>
              </a:ext>
            </a:extLst>
          </p:cNvPr>
          <p:cNvSpPr/>
          <p:nvPr/>
        </p:nvSpPr>
        <p:spPr>
          <a:xfrm>
            <a:off x="865414" y="1792224"/>
            <a:ext cx="3004457" cy="155513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05F256-41AA-6B4A-AAAD-DCBF4A67BE17}"/>
              </a:ext>
            </a:extLst>
          </p:cNvPr>
          <p:cNvSpPr/>
          <p:nvPr/>
        </p:nvSpPr>
        <p:spPr>
          <a:xfrm>
            <a:off x="4681401" y="1773610"/>
            <a:ext cx="3164478" cy="155513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86E8722F-07F4-B325-683B-BB760A0E11F7}"/>
              </a:ext>
            </a:extLst>
          </p:cNvPr>
          <p:cNvSpPr/>
          <p:nvPr/>
        </p:nvSpPr>
        <p:spPr>
          <a:xfrm>
            <a:off x="8186329" y="1417320"/>
            <a:ext cx="3561261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5BE166FE-93FC-2927-FD86-B74035CF82F6}"/>
              </a:ext>
            </a:extLst>
          </p:cNvPr>
          <p:cNvSpPr/>
          <p:nvPr/>
        </p:nvSpPr>
        <p:spPr>
          <a:xfrm>
            <a:off x="594360" y="3945636"/>
            <a:ext cx="3561261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2E46CB23-8BBF-34FD-C4E2-D2E3469C54DC}"/>
              </a:ext>
            </a:extLst>
          </p:cNvPr>
          <p:cNvSpPr/>
          <p:nvPr/>
        </p:nvSpPr>
        <p:spPr>
          <a:xfrm>
            <a:off x="4426674" y="3954780"/>
            <a:ext cx="3561261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5B3504DD-1D82-D809-D0FB-E8445A722556}"/>
              </a:ext>
            </a:extLst>
          </p:cNvPr>
          <p:cNvSpPr/>
          <p:nvPr/>
        </p:nvSpPr>
        <p:spPr>
          <a:xfrm>
            <a:off x="8186329" y="3954780"/>
            <a:ext cx="3561261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C451DF-0516-51BC-C685-EC318E6C2C7E}"/>
              </a:ext>
            </a:extLst>
          </p:cNvPr>
          <p:cNvSpPr/>
          <p:nvPr/>
        </p:nvSpPr>
        <p:spPr>
          <a:xfrm>
            <a:off x="8323434" y="1744383"/>
            <a:ext cx="3164478" cy="155513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EC39EB-0C7F-DD6E-3EAD-EE20AA8FF52C}"/>
              </a:ext>
            </a:extLst>
          </p:cNvPr>
          <p:cNvSpPr/>
          <p:nvPr/>
        </p:nvSpPr>
        <p:spPr>
          <a:xfrm>
            <a:off x="792751" y="4297026"/>
            <a:ext cx="3164478" cy="1555133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15751E-7DA4-422A-B0D3-1B05236D476F}"/>
              </a:ext>
            </a:extLst>
          </p:cNvPr>
          <p:cNvSpPr/>
          <p:nvPr/>
        </p:nvSpPr>
        <p:spPr>
          <a:xfrm>
            <a:off x="4588736" y="4297025"/>
            <a:ext cx="3164478" cy="1555133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47B4F1-8DC6-9310-862C-33AC169EF4E8}"/>
              </a:ext>
            </a:extLst>
          </p:cNvPr>
          <p:cNvSpPr/>
          <p:nvPr/>
        </p:nvSpPr>
        <p:spPr>
          <a:xfrm>
            <a:off x="8402682" y="4295067"/>
            <a:ext cx="3164478" cy="1555133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25E827-74EF-927F-98B1-56CC17162C7A}"/>
              </a:ext>
            </a:extLst>
          </p:cNvPr>
          <p:cNvSpPr txBox="1"/>
          <p:nvPr/>
        </p:nvSpPr>
        <p:spPr>
          <a:xfrm>
            <a:off x="8365235" y="1499290"/>
            <a:ext cx="308087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4170A6"/>
                </a:solidFill>
                <a:latin typeface="Aptos"/>
              </a:rPr>
              <a:t>3</a:t>
            </a:r>
            <a:r>
              <a:rPr sz="1000" b="1" dirty="0">
                <a:solidFill>
                  <a:srgbClr val="4170A6"/>
                </a:solidFill>
                <a:latin typeface="Aptos"/>
              </a:rPr>
              <a:t> • </a:t>
            </a:r>
            <a:r>
              <a:rPr lang="en-US" sz="1000" b="1" dirty="0">
                <a:solidFill>
                  <a:srgbClr val="4170A6"/>
                </a:solidFill>
                <a:latin typeface="Aptos"/>
              </a:rPr>
              <a:t>Garden Area </a:t>
            </a:r>
            <a:endParaRPr sz="1000" b="1" dirty="0">
              <a:solidFill>
                <a:srgbClr val="4170A6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9B4E50-CC65-76D6-D8B5-104D699FE6D9}"/>
              </a:ext>
            </a:extLst>
          </p:cNvPr>
          <p:cNvSpPr txBox="1"/>
          <p:nvPr/>
        </p:nvSpPr>
        <p:spPr>
          <a:xfrm>
            <a:off x="704088" y="4023038"/>
            <a:ext cx="308087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4170A6"/>
                </a:solidFill>
                <a:latin typeface="Aptos"/>
              </a:rPr>
              <a:t>4</a:t>
            </a:r>
            <a:r>
              <a:rPr sz="1000" b="1" dirty="0">
                <a:solidFill>
                  <a:srgbClr val="4170A6"/>
                </a:solidFill>
                <a:latin typeface="Aptos"/>
              </a:rPr>
              <a:t> • </a:t>
            </a:r>
            <a:r>
              <a:rPr lang="en-US" sz="1000" b="1" dirty="0">
                <a:solidFill>
                  <a:srgbClr val="4170A6"/>
                </a:solidFill>
                <a:latin typeface="Aptos"/>
              </a:rPr>
              <a:t>Garden Area (Function 1)</a:t>
            </a:r>
            <a:endParaRPr sz="1000" b="1" dirty="0">
              <a:solidFill>
                <a:srgbClr val="4170A6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890FFA-98B7-90D6-DF7A-93FECB76738C}"/>
              </a:ext>
            </a:extLst>
          </p:cNvPr>
          <p:cNvSpPr txBox="1"/>
          <p:nvPr/>
        </p:nvSpPr>
        <p:spPr>
          <a:xfrm>
            <a:off x="4588736" y="4045907"/>
            <a:ext cx="308087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4170A6"/>
                </a:solidFill>
                <a:latin typeface="Aptos"/>
              </a:rPr>
              <a:t>5</a:t>
            </a:r>
            <a:r>
              <a:rPr sz="1000" b="1" dirty="0">
                <a:solidFill>
                  <a:srgbClr val="4170A6"/>
                </a:solidFill>
                <a:latin typeface="Aptos"/>
              </a:rPr>
              <a:t> • </a:t>
            </a:r>
            <a:r>
              <a:rPr lang="en-US" sz="1000" b="1" dirty="0">
                <a:solidFill>
                  <a:srgbClr val="4170A6"/>
                </a:solidFill>
                <a:latin typeface="Aptos"/>
              </a:rPr>
              <a:t>Garden Area (Function 2)</a:t>
            </a:r>
            <a:endParaRPr sz="1000" b="1" dirty="0">
              <a:solidFill>
                <a:srgbClr val="4170A6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E53676-98FE-AF56-C99B-47E9B6FBC5C1}"/>
              </a:ext>
            </a:extLst>
          </p:cNvPr>
          <p:cNvSpPr txBox="1"/>
          <p:nvPr/>
        </p:nvSpPr>
        <p:spPr>
          <a:xfrm>
            <a:off x="8365235" y="4023038"/>
            <a:ext cx="308087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4170A6"/>
                </a:solidFill>
                <a:latin typeface="Aptos"/>
              </a:rPr>
              <a:t>6</a:t>
            </a:r>
            <a:r>
              <a:rPr sz="1000" b="1" dirty="0">
                <a:solidFill>
                  <a:srgbClr val="4170A6"/>
                </a:solidFill>
                <a:latin typeface="Aptos"/>
              </a:rPr>
              <a:t> • </a:t>
            </a:r>
            <a:r>
              <a:rPr lang="en-US" sz="1000" b="1" dirty="0">
                <a:solidFill>
                  <a:srgbClr val="4170A6"/>
                </a:solidFill>
                <a:latin typeface="Aptos"/>
              </a:rPr>
              <a:t>Overgrown Area</a:t>
            </a:r>
            <a:endParaRPr sz="1000" b="1" dirty="0">
              <a:solidFill>
                <a:srgbClr val="4170A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3717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XAML: Building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XAML defines the visual controls; x:Name lets C# access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7101" y="1385316"/>
            <a:ext cx="5532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81912"/>
            <a:ext cx="1234440" cy="310896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632204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70A6"/>
                </a:solidFill>
                <a:latin typeface="Aptos"/>
              </a:rPr>
              <a:t>MAIN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20824"/>
            <a:ext cx="5074920" cy="333756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1F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4936"/>
                </a:solidFill>
                <a:latin typeface="Aptos"/>
              </a:rPr>
              <a:t>Navigation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4681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53D"/>
                </a:solidFill>
                <a:latin typeface="Aptos"/>
              </a:rPr>
              <a:t>BackButton • NextButton •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353312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29400" y="1581912"/>
            <a:ext cx="1097280" cy="310896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4264" y="1632204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94936"/>
                </a:solidFill>
                <a:latin typeface="Aptos"/>
              </a:rPr>
              <a:t>XAML → C#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5740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2353D"/>
                </a:solidFill>
                <a:latin typeface="Aptos"/>
              </a:rPr>
              <a:t>The names in XAML are the connection points used by C#.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834640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291693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HomePage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8986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834640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2916936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273552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335584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MapPage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3375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273552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3355848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Visibility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712464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84848" y="379476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GuidePage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7764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712464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17152" y="3794760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Visibility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151376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84848" y="423367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GuideTitle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215384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151376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17152" y="4233672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4590288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84848" y="467258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GuideImage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65429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590288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17152" y="4672584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Text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5029200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84848" y="511149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GuideDescription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509320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029200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17152" y="5111496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Text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0840" y="5468112"/>
            <a:ext cx="196596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84848" y="555040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70A6"/>
                </a:solidFill>
                <a:latin typeface="Aptos"/>
              </a:rPr>
              <a:t>BackButton / NextButton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553212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5468112"/>
            <a:ext cx="196596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17152" y="5550408"/>
            <a:ext cx="1810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IsEnabled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5</a:t>
            </a:r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C6590B80-AB2E-DA8E-605A-1ED7AA66F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" y="2354580"/>
            <a:ext cx="458800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XAML is used to design the visual layout of our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Greenward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Field Guide. It creates the buttons, text, colors, and different pages, such as Home, Map, Garden Area, and Overgrown Area.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C#: The Page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One variable keeps track of where the reader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3749039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1600200"/>
            <a:ext cx="1234440" cy="310896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650492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70A6"/>
                </a:solidFill>
                <a:latin typeface="Aptos"/>
              </a:rPr>
              <a:t>CURRENT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48256"/>
            <a:ext cx="3246120" cy="18288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1F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4936"/>
                </a:solidFill>
                <a:latin typeface="Aptos"/>
              </a:rPr>
              <a:t>Page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98848"/>
            <a:ext cx="347472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4549140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562856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360"/>
                </a:solidFill>
                <a:latin typeface="Aptos"/>
              </a:rPr>
              <a:t>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46320"/>
            <a:ext cx="347472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4896612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91032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360"/>
                </a:solidFill>
                <a:latin typeface="Aptos"/>
              </a:rP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93792"/>
            <a:ext cx="347472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5244083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57800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360"/>
                </a:solidFill>
                <a:latin typeface="Aptos"/>
              </a:rPr>
              <a:t>Garden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41264"/>
            <a:ext cx="347472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5591556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605272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360"/>
                </a:solidFill>
                <a:latin typeface="Aptos"/>
              </a:rPr>
              <a:t>Overgrown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353312"/>
            <a:ext cx="69037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64608" y="1600200"/>
            <a:ext cx="1600200" cy="310896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19472" y="1650492"/>
            <a:ext cx="1490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94936"/>
                </a:solidFill>
                <a:latin typeface="Aptos"/>
              </a:rPr>
              <a:t>NAVIGATION METHODS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2148840"/>
            <a:ext cx="6355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02352" y="22677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StartGuide_Click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2677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currentPage 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2677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Home →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044952"/>
            <a:ext cx="6355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02352" y="316382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NextButton_Click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16382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if &lt; 3, then ++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6382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Next page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3941064"/>
            <a:ext cx="6355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02352" y="405993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BackButton_Click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05993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if &gt; 0, then --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05993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Previous page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4837176"/>
            <a:ext cx="6355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02352" y="495604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HomeButton_Click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956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currentPage =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956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Return Home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5577840"/>
            <a:ext cx="6355080" cy="384048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74920" y="5669280"/>
            <a:ext cx="5989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170A6"/>
                </a:solidFill>
                <a:latin typeface="Aptos"/>
              </a:rPr>
              <a:t>Every navigation event finishes by calling ShowPage().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6</a:t>
            </a: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9BD03D42-0173-BDC4-D988-B9C4A187A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512" y="2175373"/>
            <a:ext cx="305344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C# controls the application's behavior when the user interacts with the buttons. The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currentPage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 tracks which screen the reader is viewing, while the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ShowPage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displays the correct page. Methods like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NextButton_Click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BackButton_Click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HomeButton_Click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allow users to navigate through the guide.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ShowPage(): The Controller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It hides every page first, then displays the correct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36576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1600200"/>
            <a:ext cx="731520" cy="310896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650492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70A6"/>
                </a:solidFill>
                <a:latin typeface="Aptos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353D"/>
                </a:solidFill>
                <a:latin typeface="Aptos"/>
              </a:rPr>
              <a:t>Hide everything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3154680" cy="19202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1F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C6360"/>
                </a:solidFill>
                <a:latin typeface="Aptos"/>
              </a:rPr>
              <a:t>This prevents multiple screens from being visible at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53312"/>
            <a:ext cx="6949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46320" y="1600200"/>
            <a:ext cx="731520" cy="310896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3" y="1650492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94936"/>
                </a:solidFill>
                <a:latin typeface="Apto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4884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353D"/>
                </a:solidFill>
                <a:latin typeface="Aptos"/>
              </a:rPr>
              <a:t>Choose the page using currentPage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3" y="2601927"/>
            <a:ext cx="6355080" cy="26517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1F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46320" y="5486400"/>
            <a:ext cx="6355080" cy="38404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10912" y="5577840"/>
            <a:ext cx="6035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Finally: BackButton.IsEnabled and NextButton.IsEnabled use the page boundaries.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7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037295B-3A3C-7FF7-A667-91D24BC3E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" y="2817674"/>
            <a:ext cx="30632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code hides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setting their visibility to Collapsed. This ensures only the correct screen is displayed.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B5308F88-2583-6B27-74C0-A8D646C4E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2834640"/>
            <a:ext cx="60236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currentPage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 determines which screen appears. Page 0 shows Home, page 1 shows the Map, page 2 shows the Garden Area, and page 3 shows the Overgrown Area. The code also updates the guide text and controls the Back and Next buttons.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Complete Event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This is how a user action travels from the XAML button to the visible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2029968"/>
            <a:ext cx="347472" cy="310896"/>
          </a:xfrm>
          <a:prstGeom prst="roundRect">
            <a:avLst/>
          </a:prstGeom>
          <a:solidFill>
            <a:srgbClr val="4170A6"/>
          </a:solidFill>
          <a:ln w="12700">
            <a:solidFill>
              <a:srgbClr val="41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080260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78608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353D"/>
                </a:solidFill>
                <a:latin typeface="Aptos"/>
              </a:rPr>
              <a:t>USER CLICKS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63240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START / NEXT / BACK /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1965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99232" y="2029968"/>
            <a:ext cx="347472" cy="310896"/>
          </a:xfrm>
          <a:prstGeom prst="roundRect">
            <a:avLst/>
          </a:prstGeom>
          <a:solidFill>
            <a:srgbClr val="31746E"/>
          </a:solidFill>
          <a:ln w="12700">
            <a:solidFill>
              <a:srgbClr val="31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54096" y="2080260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578608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353D"/>
                </a:solidFill>
                <a:latin typeface="Aptos"/>
              </a:rPr>
              <a:t>EVENT HANDLER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063240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C# method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828800"/>
            <a:ext cx="1965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0951" y="2029968"/>
            <a:ext cx="347472" cy="310896"/>
          </a:xfrm>
          <a:prstGeom prst="roundRect">
            <a:avLst/>
          </a:prstGeom>
          <a:solidFill>
            <a:srgbClr val="705897"/>
          </a:solidFill>
          <a:ln w="12700">
            <a:solidFill>
              <a:srgbClr val="705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85815" y="2080260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2578608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353D"/>
                </a:solidFill>
                <a:latin typeface="Aptos"/>
              </a:rPr>
              <a:t>UPDATE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3063240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currentPage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828800"/>
            <a:ext cx="1965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62671" y="2029968"/>
            <a:ext cx="347472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17536" y="2080260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578608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353D"/>
                </a:solidFill>
                <a:latin typeface="Aptos"/>
              </a:rPr>
              <a:t>SHOW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3063240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ShowPage() runs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36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1828800"/>
            <a:ext cx="1965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94392" y="2029968"/>
            <a:ext cx="347472" cy="310896"/>
          </a:xfrm>
          <a:prstGeom prst="roundRect">
            <a:avLst/>
          </a:prstGeom>
          <a:solidFill>
            <a:srgbClr val="CC7E37"/>
          </a:solidFill>
          <a:ln w="12700">
            <a:solidFill>
              <a:srgbClr val="CC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49256" y="2080260"/>
            <a:ext cx="2377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578608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353D"/>
                </a:solidFill>
                <a:latin typeface="Aptos"/>
              </a:rPr>
              <a:t>UI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3063240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360"/>
                </a:solidFill>
                <a:latin typeface="Aptos"/>
              </a:rPr>
              <a:t>Visibility / Text changes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251960"/>
            <a:ext cx="10561320" cy="960120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4622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70A6"/>
                </a:solidFill>
                <a:latin typeface="Aptos"/>
              </a:rPr>
              <a:t>Example: NEXT on the Map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40740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2353D"/>
                </a:solidFill>
                <a:latin typeface="Aptos"/>
              </a:rPr>
              <a:t>currentPage = 1 → 2 → ShowPage() → Map hidden → GuidePage visible → “Garden Area” displayed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4864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360"/>
                </a:solidFill>
                <a:latin typeface="Aptos"/>
              </a:rPr>
              <a:t>This same pattern is reused for every navigation button.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Demo &amp; Functional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What should be demonstrated with the current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499616"/>
            <a:ext cx="384048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49907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63039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4475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Home page appears; START GUIDE is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44752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PASS when HomePage is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12264"/>
            <a:ext cx="10927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2286000"/>
            <a:ext cx="384048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33629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4942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Start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31136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Click START GUIDE → Map page appears.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31136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currentPage becomes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98648"/>
            <a:ext cx="10927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" y="3072384"/>
            <a:ext cx="384048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122676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3580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175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Map → Garden → Overgrown.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1752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Pages 2 and 3 display correct 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85032"/>
            <a:ext cx="10927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" y="3858768"/>
            <a:ext cx="384048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909060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221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803904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Move back one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803904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currentPage decreases.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71416"/>
            <a:ext cx="10927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1248" y="4645152"/>
            <a:ext cx="384048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695444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60857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Home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59028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Return to Welcome screen.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590288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currentPage becomes 0.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257800"/>
            <a:ext cx="10927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41248" y="5431536"/>
            <a:ext cx="384048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481828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39496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353D"/>
                </a:solidFill>
                <a:latin typeface="Aptos"/>
              </a:rPr>
              <a:t>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37667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Back disabled at 0; Next disabled at 3.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76672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1746E"/>
                </a:solidFill>
                <a:latin typeface="Aptos"/>
              </a:rPr>
              <a:t>Reader cannot leave valid range.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6080760"/>
            <a:ext cx="10927080" cy="320040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6144768"/>
            <a:ext cx="10561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Important: the supplied code does NOT yet include CaptureService / CaptureButton_Click. Those are 7B tasks to implement and test next.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Final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Everything needed for a clean instructor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38988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440180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417319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99032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Release build runs successfully on Windows.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92807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98424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2034540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011679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PROJECT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993391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StoryGameApp/ • Evidence/ • README.md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87168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257860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2628900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606039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CLEAN 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587751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Exclude bin/ • obj/ • .vs/ and keep package under 100 MB.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81527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317296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223260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200399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182111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7A + 7B evidence organized with screenshots and test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75887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3767327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817619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794759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README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776472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Intended User • Purpose • Setup • Controls • Code Map • Limitations • Contributions.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270248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2960" y="436168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" y="4411979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438912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370832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Editable .pptx plus PDF in Week7/Evidence/Final/.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64608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2960" y="495604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006340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498348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PEER 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965192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Outside peer extracts release ZIP, runs README steps, and records verification notes.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458968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22960" y="5550408"/>
            <a:ext cx="329184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5600700"/>
            <a:ext cx="219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557784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353D"/>
                </a:solidFill>
                <a:latin typeface="Aptos"/>
              </a:rPr>
              <a:t>REPOSITORY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5559552"/>
            <a:ext cx="8183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360"/>
                </a:solidFill>
                <a:latin typeface="Aptos"/>
              </a:rPr>
              <a:t>Instructor can access the repository and tested URL is submitted.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6144768"/>
            <a:ext cx="10744200" cy="292608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E7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6199632"/>
            <a:ext cx="10332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94936"/>
                </a:solidFill>
                <a:latin typeface="Aptos"/>
              </a:rPr>
              <a:t>READY = working app + tested navigation + complete evidence + clear documentation + final package.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353D"/>
                </a:solidFill>
                <a:latin typeface="Aptos"/>
              </a:rPr>
              <a:t>Member-by-Member Master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360"/>
                </a:solidFill>
                <a:latin typeface="Aptos"/>
              </a:rPr>
              <a:t>Clear ownership from 7A through final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01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B7D65"/>
                </a:solidFill>
                <a:latin typeface="Aptos"/>
              </a:rPr>
              <a:t>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90472"/>
            <a:ext cx="914400" cy="310896"/>
          </a:xfrm>
          <a:prstGeom prst="roundRect">
            <a:avLst/>
          </a:prstGeom>
          <a:solidFill>
            <a:srgbClr val="4170A6"/>
          </a:solidFill>
          <a:ln w="12700">
            <a:solidFill>
              <a:srgbClr val="417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540763"/>
            <a:ext cx="8046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LEXXIE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17904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353D"/>
                </a:solidFill>
                <a:latin typeface="Aptos"/>
              </a:rPr>
              <a:t>Lead Developer &amp; Git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✓ 7A WPF project, XAML/C# alignment, Git checkpoint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7B CaptureService integration and clean build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Final Release Build and clean ZIP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Repository visibility/access and tested 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490472"/>
            <a:ext cx="914400" cy="310896"/>
          </a:xfrm>
          <a:prstGeom prst="roundRect">
            <a:avLst/>
          </a:prstGeom>
          <a:solidFill>
            <a:srgbClr val="294936"/>
          </a:solidFill>
          <a:ln w="12700">
            <a:solidFill>
              <a:srgbClr val="29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540763"/>
            <a:ext cx="80467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NI</a:t>
            </a:r>
            <a:r>
              <a:rPr lang="en-US" sz="900" b="1" dirty="0">
                <a:solidFill>
                  <a:srgbClr val="FFFFFF"/>
                </a:solidFill>
                <a:latin typeface="Aptos"/>
              </a:rPr>
              <a:t>CO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0" y="1517904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353D"/>
                </a:solidFill>
                <a:latin typeface="Aptos"/>
              </a:rPr>
              <a:t>Logic Architect &amp; Visual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✓ 7A narrative flow and digital prototype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7B capture logic trace and prototype update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Final code/event walkthrough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Co-verify UI scaling and alignment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4048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4005072"/>
            <a:ext cx="914400" cy="310896"/>
          </a:xfrm>
          <a:prstGeom prst="roundRect">
            <a:avLst/>
          </a:prstGeom>
          <a:solidFill>
            <a:srgbClr val="705897"/>
          </a:solidFill>
          <a:ln w="12700">
            <a:solidFill>
              <a:srgbClr val="705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4055363"/>
            <a:ext cx="8046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PAULINA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32504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353D"/>
                </a:solidFill>
                <a:latin typeface="Aptos"/>
              </a:rPr>
              <a:t>Narrative Writer &amp; Documentation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6227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✓ 7A Greenward storyline, user story, accessibility text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7B lecture notes and evidence organization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Final README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Final PPTX + PDF 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4048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55080" y="4005072"/>
            <a:ext cx="914400" cy="310896"/>
          </a:xfrm>
          <a:prstGeom prst="roundRect">
            <a:avLst/>
          </a:prstGeom>
          <a:solidFill>
            <a:srgbClr val="CC7E37"/>
          </a:solidFill>
          <a:ln w="12700">
            <a:solidFill>
              <a:srgbClr val="CC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4055363"/>
            <a:ext cx="8046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032504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353D"/>
                </a:solidFill>
                <a:latin typeface="Aptos"/>
              </a:rPr>
              <a:t>Asset Pipeline, QA Tester &amp; AI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6227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✓ 7A image assets and boundary testing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7B capture tests + Required AI Check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Final source/image credits</a:t>
            </a:r>
          </a:p>
          <a:p>
            <a:pPr>
              <a:spcAft>
                <a:spcPts val="200"/>
              </a:spcAft>
              <a:defRPr sz="1030">
                <a:solidFill>
                  <a:srgbClr val="5C6360"/>
                </a:solidFill>
                <a:latin typeface="Aptos"/>
              </a:defRPr>
            </a:pPr>
            <a:r>
              <a:t>• Independent peer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360"/>
                </a:solidFill>
                <a:latin typeface="Aptos"/>
              </a:rPr>
              <a:t>GREENWARD FIELD GUIDE • WEEK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36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1310</Words>
  <Application>Microsoft Office PowerPoint</Application>
  <PresentationFormat>Widescreen</PresentationFormat>
  <Paragraphs>262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Unicode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B217 Student</dc:creator>
  <cp:keywords/>
  <dc:description>generated using python-pptx</dc:description>
  <cp:lastModifiedBy>B217 Student</cp:lastModifiedBy>
  <cp:revision>3</cp:revision>
  <dcterms:created xsi:type="dcterms:W3CDTF">2013-01-27T09:14:16Z</dcterms:created>
  <dcterms:modified xsi:type="dcterms:W3CDTF">2026-10-08T23:13:17Z</dcterms:modified>
  <cp:category/>
</cp:coreProperties>
</file>